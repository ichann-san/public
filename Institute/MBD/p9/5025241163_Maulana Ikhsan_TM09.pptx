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3" r:id="rId4"/>
    <p:sldId id="284" r:id="rId5"/>
    <p:sldId id="285" r:id="rId6"/>
    <p:sldId id="28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3683-C00C-4351-8B81-FDCA4F772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B83E6-5BCF-405A-8AF1-65ADEF3FE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B421D-AEC1-4C99-8365-4857F43F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F2F3-AF56-46CF-98CE-85131CF7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599B-97CF-4615-9151-390C7FCD8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Lambang dan Logo ITS - Institut Teknologi Sepuluh Nopember">
            <a:extLst>
              <a:ext uri="{FF2B5EF4-FFF2-40B4-BE49-F238E27FC236}">
                <a16:creationId xmlns:a16="http://schemas.microsoft.com/office/drawing/2014/main" id="{3610392B-903E-4373-99F2-3DAB4E29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0" y="144262"/>
            <a:ext cx="1295659" cy="79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picture containing plate&#10;&#10;Description automatically generated">
            <a:extLst>
              <a:ext uri="{FF2B5EF4-FFF2-40B4-BE49-F238E27FC236}">
                <a16:creationId xmlns:a16="http://schemas.microsoft.com/office/drawing/2014/main" id="{73173122-AB34-4042-89AE-FDEA6ED80E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2641" y="144263"/>
            <a:ext cx="798989" cy="7989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750CA5-D4AB-44F9-9FE8-88958FCA2873}"/>
              </a:ext>
            </a:extLst>
          </p:cNvPr>
          <p:cNvSpPr/>
          <p:nvPr/>
        </p:nvSpPr>
        <p:spPr>
          <a:xfrm>
            <a:off x="0" y="6382582"/>
            <a:ext cx="12192000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, </a:t>
            </a:r>
            <a:r>
              <a:rPr lang="en-GB" dirty="0" err="1"/>
              <a:t>Institut</a:t>
            </a:r>
            <a:r>
              <a:rPr lang="en-GB" dirty="0"/>
              <a:t> </a:t>
            </a:r>
            <a:r>
              <a:rPr lang="en-GB" dirty="0" err="1"/>
              <a:t>Teknologi</a:t>
            </a:r>
            <a:r>
              <a:rPr lang="en-GB" dirty="0"/>
              <a:t> </a:t>
            </a:r>
            <a:r>
              <a:rPr lang="en-GB" dirty="0" err="1"/>
              <a:t>Sepuluh</a:t>
            </a:r>
            <a:r>
              <a:rPr lang="en-GB" dirty="0"/>
              <a:t> </a:t>
            </a:r>
            <a:r>
              <a:rPr lang="en-GB" dirty="0" err="1"/>
              <a:t>Nopember</a:t>
            </a:r>
            <a:r>
              <a:rPr lang="en-GB" dirty="0"/>
              <a:t>, Surabaya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5DB327-2CF4-4B87-94C4-871F6BE6C47C}"/>
              </a:ext>
            </a:extLst>
          </p:cNvPr>
          <p:cNvGrpSpPr/>
          <p:nvPr/>
        </p:nvGrpSpPr>
        <p:grpSpPr>
          <a:xfrm>
            <a:off x="2395537" y="419931"/>
            <a:ext cx="7400925" cy="247651"/>
            <a:chOff x="2395537" y="317083"/>
            <a:chExt cx="7400925" cy="24765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F1AA9E-1109-44D4-8121-4927D8AC54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395537" y="317083"/>
              <a:ext cx="7096125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2BF4E46-AB3F-41CB-B701-2C3227A1CA9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547937" y="440908"/>
              <a:ext cx="7096125" cy="1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2898C63-93AC-4ECF-8424-046CFAB3820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700337" y="564733"/>
              <a:ext cx="7096125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438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8C07-3EBD-40B5-B786-21581C74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F686-DF0C-46CA-AE2C-CBC4DDB7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50D6-293C-4A3C-88A2-FD9FE9B0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3C63-E984-4C0C-B39F-A8399457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55A12-188A-47BB-83AF-8CAC5B20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5EF99A-9A23-472A-84B5-2D7FA683C98D}"/>
              </a:ext>
            </a:extLst>
          </p:cNvPr>
          <p:cNvSpPr/>
          <p:nvPr/>
        </p:nvSpPr>
        <p:spPr>
          <a:xfrm>
            <a:off x="0" y="6382582"/>
            <a:ext cx="12192000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, </a:t>
            </a:r>
            <a:r>
              <a:rPr lang="en-GB" dirty="0" err="1"/>
              <a:t>Institut</a:t>
            </a:r>
            <a:r>
              <a:rPr lang="en-GB" dirty="0"/>
              <a:t> </a:t>
            </a:r>
            <a:r>
              <a:rPr lang="en-GB" dirty="0" err="1"/>
              <a:t>Teknologi</a:t>
            </a:r>
            <a:r>
              <a:rPr lang="en-GB" dirty="0"/>
              <a:t> </a:t>
            </a:r>
            <a:r>
              <a:rPr lang="en-GB" dirty="0" err="1"/>
              <a:t>Sepuluh</a:t>
            </a:r>
            <a:r>
              <a:rPr lang="en-GB" dirty="0"/>
              <a:t> </a:t>
            </a:r>
            <a:r>
              <a:rPr lang="en-GB" dirty="0" err="1"/>
              <a:t>Nopember</a:t>
            </a:r>
            <a:r>
              <a:rPr lang="en-GB" dirty="0"/>
              <a:t>, Surabaya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63CF83-5815-4F2B-8F35-AC210096C816}"/>
              </a:ext>
            </a:extLst>
          </p:cNvPr>
          <p:cNvCxnSpPr>
            <a:cxnSpLocks/>
          </p:cNvCxnSpPr>
          <p:nvPr/>
        </p:nvCxnSpPr>
        <p:spPr>
          <a:xfrm flipV="1">
            <a:off x="8829693" y="222249"/>
            <a:ext cx="2914125" cy="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306439-76C0-407B-8D33-BBCAA0D255AD}"/>
              </a:ext>
            </a:extLst>
          </p:cNvPr>
          <p:cNvCxnSpPr>
            <a:cxnSpLocks/>
          </p:cNvCxnSpPr>
          <p:nvPr/>
        </p:nvCxnSpPr>
        <p:spPr>
          <a:xfrm flipV="1">
            <a:off x="8892278" y="310316"/>
            <a:ext cx="2914125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4A9DC9-60D1-4C74-A4A7-3542E4E8532E}"/>
              </a:ext>
            </a:extLst>
          </p:cNvPr>
          <p:cNvCxnSpPr>
            <a:cxnSpLocks/>
          </p:cNvCxnSpPr>
          <p:nvPr/>
        </p:nvCxnSpPr>
        <p:spPr>
          <a:xfrm>
            <a:off x="11415712" y="24984"/>
            <a:ext cx="0" cy="211814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D27B23-6EFE-4A70-9DD5-1E9CD58ECFC6}"/>
              </a:ext>
            </a:extLst>
          </p:cNvPr>
          <p:cNvCxnSpPr>
            <a:cxnSpLocks/>
          </p:cNvCxnSpPr>
          <p:nvPr/>
        </p:nvCxnSpPr>
        <p:spPr>
          <a:xfrm>
            <a:off x="11506034" y="110293"/>
            <a:ext cx="0" cy="2270957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81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4AB9-B871-4F08-B03C-1A8EB4486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9BAFD-8A83-4A08-BDBC-1FBF61BC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86519-606A-4103-BAA2-CA9F3CD0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5B4A-8380-472D-9617-4C1C8B19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9295-57F9-48E5-810C-B2D9F9A9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94C758-1DBA-47A4-86E2-50350243BF9E}"/>
              </a:ext>
            </a:extLst>
          </p:cNvPr>
          <p:cNvSpPr/>
          <p:nvPr/>
        </p:nvSpPr>
        <p:spPr>
          <a:xfrm>
            <a:off x="0" y="6382582"/>
            <a:ext cx="12192000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, </a:t>
            </a:r>
            <a:r>
              <a:rPr lang="en-GB" dirty="0" err="1"/>
              <a:t>Institut</a:t>
            </a:r>
            <a:r>
              <a:rPr lang="en-GB" dirty="0"/>
              <a:t> </a:t>
            </a:r>
            <a:r>
              <a:rPr lang="en-GB" dirty="0" err="1"/>
              <a:t>Teknologi</a:t>
            </a:r>
            <a:r>
              <a:rPr lang="en-GB" dirty="0"/>
              <a:t> </a:t>
            </a:r>
            <a:r>
              <a:rPr lang="en-GB" dirty="0" err="1"/>
              <a:t>Sepuluh</a:t>
            </a:r>
            <a:r>
              <a:rPr lang="en-GB" dirty="0"/>
              <a:t> </a:t>
            </a:r>
            <a:r>
              <a:rPr lang="en-GB" dirty="0" err="1"/>
              <a:t>Nopember</a:t>
            </a:r>
            <a:r>
              <a:rPr lang="en-GB" dirty="0"/>
              <a:t>, Surabaya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5D739C7-B9CD-4A85-A468-911C24DF5D88}"/>
              </a:ext>
            </a:extLst>
          </p:cNvPr>
          <p:cNvGrpSpPr/>
          <p:nvPr/>
        </p:nvGrpSpPr>
        <p:grpSpPr>
          <a:xfrm>
            <a:off x="2395537" y="419931"/>
            <a:ext cx="7400925" cy="247651"/>
            <a:chOff x="2395537" y="317083"/>
            <a:chExt cx="7400925" cy="24765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B58D59B-159F-4189-A592-E0E71B00CAF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395537" y="317083"/>
              <a:ext cx="7096125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463604-16B1-4337-A57C-BB3D41F0928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547937" y="440908"/>
              <a:ext cx="7096125" cy="1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B229A6A-425F-4C25-BB0E-FBEA4883AA4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700337" y="564733"/>
              <a:ext cx="7096125" cy="1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781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0AEB-23D7-4A43-97D5-21E5493D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F241-D498-41AD-82DF-62E5135E1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6080D-8961-4BD5-BEC9-01A26CA43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444CE-EBE0-432E-A808-E26E00363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CD315-A7AE-42AC-87D0-C95CBE10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1B7FF-9C67-4848-90B7-46D2FE711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451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5E65-5AF6-423B-B7C4-EB3985A4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1B7F3-824D-46D3-95D0-3D0E6AC0B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5A4D7-A7C0-42C8-B794-6F28F73A2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C31D0-B296-4779-8658-9DDDB69F8E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97335-8625-40B3-840C-3ADB520D4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54EB4-F557-4345-A3AA-A5503B87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949D2-2B18-4A3B-A353-3DFDEE65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68DDB6-F67A-4621-97C9-15E5E427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72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45D3-A0CB-4A68-A53C-37F45FF4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21ADA-23D7-4FCA-AC98-723DA42A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2512E-14CA-4E37-BEC9-A6E92E05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2B85F-B141-468F-B38E-6A822438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53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2E68F-91A5-4ABA-91FB-DA9875D4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AAA4D-85AB-4F9C-8B6B-6ACE1F763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1E557-0BDA-4D6E-8D8E-A2CDD3A4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93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E2A87-340A-49FF-AAA9-84479564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66528-754D-41D6-AFED-D7016AB1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6FC27-90FA-4605-AE12-CAA3CCA63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7062F-85C2-4265-AAC3-E3AF6291C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DFAD9-4345-4720-BCCA-17F8EA61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13553-F88B-48B8-88A3-28B02D077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37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3581-96D3-43CF-A2AF-88F261FC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522EA-7EA7-4011-A549-C9BD682B4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C457E-2704-4584-9DDD-2D056C1D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73666-37C2-4B05-A7C5-2E8516A0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B925-480B-4F1B-A692-E421D9F4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1766-D3F9-47A7-BE01-DD452A60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0621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D875B-19F4-4E00-BC76-A7B4E957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45008-6764-4679-9254-666177B5D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E2E73-2C9B-46E5-85B7-E5986F73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078D5-2AE5-437A-BCB7-4CDDEAA29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ED6D8-ADBE-4421-BCB3-74D371A1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8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2FB82-A628-4C0B-83F7-FCC911150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DF8E2-BB7B-483B-B8B6-33440AEB8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45323-4D61-4092-B76F-C276D833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199B6-C391-489E-8F3C-B6B4BE52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890D8-71E3-4CB3-B9A1-AEAE4AD8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14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C945F-7670-4664-90E0-C9D38709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6120A-BD04-4B3E-91D0-E6CCC5257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03D9F-8D8E-45BA-BB49-EBB6F0A27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98442-26B6-4E1E-85BE-4C840B3B9FF9}" type="datetimeFigureOut">
              <a:rPr lang="en-GB" smtClean="0"/>
              <a:t>26/04/2026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D81F6-7596-4323-B53A-80523B0B8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2B29-6B00-4286-BA63-3B786C171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16B66-A68F-45A6-8D4D-D90D893D563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378C7-D3DF-4511-9C78-DCC70A8A8B66}"/>
              </a:ext>
            </a:extLst>
          </p:cNvPr>
          <p:cNvSpPr/>
          <p:nvPr/>
        </p:nvSpPr>
        <p:spPr>
          <a:xfrm>
            <a:off x="0" y="6382582"/>
            <a:ext cx="12192000" cy="3651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, </a:t>
            </a:r>
            <a:r>
              <a:rPr lang="en-GB" dirty="0" err="1"/>
              <a:t>Institut</a:t>
            </a:r>
            <a:r>
              <a:rPr lang="en-GB" dirty="0"/>
              <a:t> </a:t>
            </a:r>
            <a:r>
              <a:rPr lang="en-GB" dirty="0" err="1"/>
              <a:t>Teknologi</a:t>
            </a:r>
            <a:r>
              <a:rPr lang="en-GB" dirty="0"/>
              <a:t> </a:t>
            </a:r>
            <a:r>
              <a:rPr lang="en-GB" dirty="0" err="1"/>
              <a:t>Sepuluh</a:t>
            </a:r>
            <a:r>
              <a:rPr lang="en-GB" dirty="0"/>
              <a:t> </a:t>
            </a:r>
            <a:r>
              <a:rPr lang="en-GB" dirty="0" err="1"/>
              <a:t>Nopember</a:t>
            </a:r>
            <a:r>
              <a:rPr lang="en-GB" dirty="0"/>
              <a:t>, Surabaya</a:t>
            </a:r>
          </a:p>
        </p:txBody>
      </p:sp>
    </p:spTree>
    <p:extLst>
      <p:ext uri="{BB962C8B-B14F-4D97-AF65-F5344CB8AC3E}">
        <p14:creationId xmlns:p14="http://schemas.microsoft.com/office/powerpoint/2010/main" val="30935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FCE3-588C-4D9B-88D8-AD7E705BA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TM-09</a:t>
            </a:r>
            <a:br>
              <a:rPr lang="en-GB" dirty="0"/>
            </a:br>
            <a:r>
              <a:rPr lang="en-GB" sz="3300" dirty="0"/>
              <a:t>MAULANA IKHSAN – 5025241163</a:t>
            </a:r>
            <a:br>
              <a:rPr lang="en-GB" sz="3300" dirty="0"/>
            </a:br>
            <a:r>
              <a:rPr lang="en-GB" sz="3300" dirty="0"/>
              <a:t>Database Management</a:t>
            </a:r>
          </a:p>
        </p:txBody>
      </p:sp>
    </p:spTree>
    <p:extLst>
      <p:ext uri="{BB962C8B-B14F-4D97-AF65-F5344CB8AC3E}">
        <p14:creationId xmlns:p14="http://schemas.microsoft.com/office/powerpoint/2010/main" val="62201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E7DFAD1-C7C7-4603-ADA1-D017DF17801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CFCD8D1-6A7B-CB09-811B-883C30826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3" y="634280"/>
            <a:ext cx="10269354" cy="4351338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3500" dirty="0" err="1"/>
              <a:t>PostgreeSQL</a:t>
            </a:r>
            <a:r>
              <a:rPr lang="en-GB" sz="3500" dirty="0"/>
              <a:t> Index</a:t>
            </a:r>
          </a:p>
          <a:p>
            <a:pPr algn="just"/>
            <a:r>
              <a:rPr lang="en-GB" dirty="0"/>
              <a:t>B-tree index</a:t>
            </a:r>
          </a:p>
          <a:p>
            <a:pPr marL="0" indent="0" algn="just">
              <a:buNone/>
            </a:pPr>
            <a:r>
              <a:rPr lang="en-GB" sz="2000" dirty="0"/>
              <a:t>Index default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PostgreeSQL</a:t>
            </a:r>
            <a:r>
              <a:rPr lang="en-GB" sz="2000" dirty="0"/>
              <a:t>, </a:t>
            </a:r>
            <a:r>
              <a:rPr lang="en-GB" sz="2000" dirty="0" err="1"/>
              <a:t>cara</a:t>
            </a:r>
            <a:r>
              <a:rPr lang="en-GB" sz="2000" dirty="0"/>
              <a:t> </a:t>
            </a:r>
            <a:r>
              <a:rPr lang="en-GB" sz="2000" dirty="0" err="1"/>
              <a:t>kerjanya</a:t>
            </a:r>
            <a:r>
              <a:rPr lang="en-GB" sz="2000" dirty="0"/>
              <a:t> Adalah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mencocokan</a:t>
            </a:r>
            <a:r>
              <a:rPr lang="en-GB" sz="2000" dirty="0"/>
              <a:t> index </a:t>
            </a:r>
            <a:r>
              <a:rPr lang="en-GB" sz="2000" dirty="0" err="1"/>
              <a:t>bedasarkan</a:t>
            </a:r>
            <a:r>
              <a:rPr lang="en-GB" sz="2000" dirty="0"/>
              <a:t> </a:t>
            </a:r>
            <a:r>
              <a:rPr lang="en-GB" sz="2000" dirty="0" err="1"/>
              <a:t>posisi</a:t>
            </a:r>
            <a:r>
              <a:rPr lang="en-GB" sz="2000" dirty="0"/>
              <a:t> per </a:t>
            </a:r>
            <a:r>
              <a:rPr lang="en-GB" sz="2000" dirty="0" err="1"/>
              <a:t>karakternya</a:t>
            </a:r>
            <a:r>
              <a:rPr lang="en-GB" sz="2000" dirty="0"/>
              <a:t> </a:t>
            </a:r>
            <a:r>
              <a:rPr lang="en-GB" sz="2000" dirty="0" err="1"/>
              <a:t>secara</a:t>
            </a:r>
            <a:r>
              <a:rPr lang="en-GB" sz="2000" dirty="0"/>
              <a:t> ascending by default</a:t>
            </a:r>
          </a:p>
          <a:p>
            <a:pPr marL="0" indent="0" algn="just">
              <a:buNone/>
            </a:pPr>
            <a:endParaRPr lang="en-GB" sz="2000" dirty="0"/>
          </a:p>
          <a:p>
            <a:pPr algn="just"/>
            <a:r>
              <a:rPr lang="en-GB" dirty="0"/>
              <a:t>Hash index</a:t>
            </a:r>
          </a:p>
          <a:p>
            <a:pPr marL="0" indent="0" algn="just">
              <a:buNone/>
            </a:pPr>
            <a:r>
              <a:rPr lang="en-GB" sz="2000" dirty="0"/>
              <a:t>Index </a:t>
            </a:r>
            <a:r>
              <a:rPr lang="en-GB" sz="2000" dirty="0" err="1"/>
              <a:t>dengan</a:t>
            </a:r>
            <a:r>
              <a:rPr lang="en-GB" sz="2000" dirty="0"/>
              <a:t> system hash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PostgreeSQL</a:t>
            </a:r>
            <a:r>
              <a:rPr lang="en-GB" sz="2000" dirty="0"/>
              <a:t>, </a:t>
            </a:r>
            <a:r>
              <a:rPr lang="en-GB" sz="2000" dirty="0" err="1"/>
              <a:t>cara</a:t>
            </a:r>
            <a:r>
              <a:rPr lang="en-GB" sz="2000" dirty="0"/>
              <a:t> </a:t>
            </a:r>
            <a:r>
              <a:rPr lang="en-GB" sz="2000" dirty="0" err="1"/>
              <a:t>kerjanya</a:t>
            </a:r>
            <a:r>
              <a:rPr lang="en-GB" sz="2000" dirty="0"/>
              <a:t> Adalah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membuat</a:t>
            </a:r>
            <a:r>
              <a:rPr lang="en-GB" sz="2000" dirty="0"/>
              <a:t> hash key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setiap</a:t>
            </a:r>
            <a:r>
              <a:rPr lang="en-GB" sz="2000" dirty="0"/>
              <a:t> index yang </a:t>
            </a:r>
            <a:r>
              <a:rPr lang="en-GB" sz="2000" dirty="0" err="1"/>
              <a:t>ada</a:t>
            </a:r>
            <a:r>
              <a:rPr lang="en-GB" sz="2000" dirty="0"/>
              <a:t> </a:t>
            </a:r>
            <a:r>
              <a:rPr lang="en-GB" sz="2000" dirty="0" err="1"/>
              <a:t>sehingga</a:t>
            </a:r>
            <a:r>
              <a:rPr lang="en-GB" sz="2000" dirty="0"/>
              <a:t> </a:t>
            </a:r>
            <a:r>
              <a:rPr lang="en-GB" sz="2000" dirty="0" err="1"/>
              <a:t>cara</a:t>
            </a:r>
            <a:r>
              <a:rPr lang="en-GB" sz="2000" dirty="0"/>
              <a:t> </a:t>
            </a:r>
            <a:r>
              <a:rPr lang="en-GB" sz="2000" dirty="0" err="1"/>
              <a:t>ini</a:t>
            </a:r>
            <a:r>
              <a:rPr lang="en-GB" sz="2000" dirty="0"/>
              <a:t> </a:t>
            </a:r>
            <a:r>
              <a:rPr lang="en-GB" sz="2000" dirty="0" err="1"/>
              <a:t>bagus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pencarian</a:t>
            </a:r>
            <a:r>
              <a:rPr lang="en-GB" sz="2000" dirty="0"/>
              <a:t> data exact </a:t>
            </a:r>
            <a:r>
              <a:rPr lang="en-GB" sz="2000" dirty="0" err="1"/>
              <a:t>atau</a:t>
            </a:r>
            <a:r>
              <a:rPr lang="en-GB" sz="2000" dirty="0"/>
              <a:t> data </a:t>
            </a:r>
            <a:r>
              <a:rPr lang="en-GB" sz="2000" dirty="0" err="1"/>
              <a:t>unik</a:t>
            </a:r>
            <a:r>
              <a:rPr lang="en-GB" sz="2000" dirty="0"/>
              <a:t> pada large database model</a:t>
            </a:r>
          </a:p>
          <a:p>
            <a:pPr marL="0" indent="0" algn="just">
              <a:buNone/>
            </a:pPr>
            <a:endParaRPr lang="en-GB" sz="2000" dirty="0"/>
          </a:p>
          <a:p>
            <a:pPr algn="just"/>
            <a:r>
              <a:rPr lang="en-GB" dirty="0"/>
              <a:t>Block range index (BRIN)</a:t>
            </a:r>
          </a:p>
          <a:p>
            <a:pPr marL="0" indent="0" algn="just">
              <a:buNone/>
            </a:pPr>
            <a:r>
              <a:rPr lang="en-GB" sz="2000" dirty="0"/>
              <a:t>Index yang </a:t>
            </a:r>
            <a:r>
              <a:rPr lang="en-GB" sz="2000" dirty="0" err="1"/>
              <a:t>berurut</a:t>
            </a:r>
            <a:r>
              <a:rPr lang="en-GB" sz="2000" dirty="0"/>
              <a:t> </a:t>
            </a:r>
            <a:r>
              <a:rPr lang="en-GB" sz="2000" dirty="0" err="1"/>
              <a:t>membentuk</a:t>
            </a:r>
            <a:r>
              <a:rPr lang="en-GB" sz="2000" dirty="0"/>
              <a:t> array, </a:t>
            </a:r>
            <a:r>
              <a:rPr lang="en-GB" sz="2000" dirty="0" err="1"/>
              <a:t>bagus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tipe</a:t>
            </a:r>
            <a:r>
              <a:rPr lang="en-GB" sz="2000" dirty="0"/>
              <a:t> data yang </a:t>
            </a:r>
            <a:r>
              <a:rPr lang="en-GB" sz="2000" dirty="0" err="1"/>
              <a:t>berurutan</a:t>
            </a:r>
            <a:r>
              <a:rPr lang="en-GB" sz="2000" dirty="0"/>
              <a:t> </a:t>
            </a:r>
            <a:r>
              <a:rPr lang="en-GB" sz="2000" dirty="0" err="1"/>
              <a:t>dengan</a:t>
            </a:r>
            <a:r>
              <a:rPr lang="en-GB" sz="2000" dirty="0"/>
              <a:t> system </a:t>
            </a:r>
            <a:r>
              <a:rPr lang="en-GB" sz="2000" dirty="0" err="1"/>
              <a:t>sekuensial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3441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9389-54F2-E9FE-D8C6-CA80E070E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2F7223C-6D7F-1CCC-3E46-3CC8FC05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E7DFAD1-C7C7-4603-ADA1-D017DF17801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74B8C1-D1F3-5831-795F-409A61AA9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3" y="209218"/>
            <a:ext cx="1026935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500" dirty="0" err="1"/>
              <a:t>PostgreeSQL</a:t>
            </a:r>
            <a:r>
              <a:rPr lang="en-GB" sz="3500" dirty="0"/>
              <a:t> Index</a:t>
            </a:r>
          </a:p>
          <a:p>
            <a:pPr algn="just"/>
            <a:r>
              <a:rPr lang="en-GB" dirty="0"/>
              <a:t>B-tree index</a:t>
            </a:r>
          </a:p>
          <a:p>
            <a:pPr marL="0" indent="0" algn="just">
              <a:buNone/>
            </a:pPr>
            <a:r>
              <a:rPr lang="en-GB" sz="2000" dirty="0"/>
              <a:t>Index default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PostgreeSQL</a:t>
            </a:r>
            <a:r>
              <a:rPr lang="en-GB" sz="2000" dirty="0"/>
              <a:t>, </a:t>
            </a:r>
            <a:r>
              <a:rPr lang="en-GB" sz="2000" dirty="0" err="1"/>
              <a:t>cara</a:t>
            </a:r>
            <a:r>
              <a:rPr lang="en-GB" sz="2000" dirty="0"/>
              <a:t> </a:t>
            </a:r>
            <a:r>
              <a:rPr lang="en-GB" sz="2000" dirty="0" err="1"/>
              <a:t>kerjanya</a:t>
            </a:r>
            <a:r>
              <a:rPr lang="en-GB" sz="2000" dirty="0"/>
              <a:t> Adalah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mencocokan</a:t>
            </a:r>
            <a:r>
              <a:rPr lang="en-GB" sz="2000" dirty="0"/>
              <a:t> index </a:t>
            </a:r>
            <a:r>
              <a:rPr lang="en-GB" sz="2000" dirty="0" err="1"/>
              <a:t>bedasarkan</a:t>
            </a:r>
            <a:r>
              <a:rPr lang="en-GB" sz="2000" dirty="0"/>
              <a:t> </a:t>
            </a:r>
            <a:r>
              <a:rPr lang="en-GB" sz="2000" dirty="0" err="1"/>
              <a:t>posisi</a:t>
            </a:r>
            <a:r>
              <a:rPr lang="en-GB" sz="2000" dirty="0"/>
              <a:t> per </a:t>
            </a:r>
            <a:r>
              <a:rPr lang="en-GB" sz="2000" dirty="0" err="1"/>
              <a:t>karakternya</a:t>
            </a:r>
            <a:r>
              <a:rPr lang="en-GB" sz="2000" dirty="0"/>
              <a:t> </a:t>
            </a:r>
            <a:r>
              <a:rPr lang="en-GB" sz="2000" dirty="0" err="1"/>
              <a:t>secara</a:t>
            </a:r>
            <a:r>
              <a:rPr lang="en-GB" sz="2000" dirty="0"/>
              <a:t> ascending by default</a:t>
            </a:r>
          </a:p>
          <a:p>
            <a:pPr marL="0" indent="0" algn="just">
              <a:buNone/>
            </a:pPr>
            <a:endParaRPr lang="en-GB" sz="2000" dirty="0"/>
          </a:p>
          <a:p>
            <a:pPr marL="0" indent="0" algn="just">
              <a:buNone/>
            </a:pP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D47CFB-7BB2-E621-7F4C-9986E693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4887"/>
            <a:ext cx="5486400" cy="1900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34C68-BBFD-2DBA-4AA0-94CFE12EA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70795"/>
            <a:ext cx="3730083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E39776-943E-388E-CFD1-6BF0060DD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92" y="4370795"/>
            <a:ext cx="3355596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11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10CC-CD4D-4A6F-8A71-88676934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404F7D4-5053-D322-E10A-DFD6B5A9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E7DFAD1-C7C7-4603-ADA1-D017DF178016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EADD230-128D-B4BB-E61D-3DC20DDE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3" y="209218"/>
            <a:ext cx="1026935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500" dirty="0" err="1"/>
              <a:t>PostgreeSQL</a:t>
            </a:r>
            <a:r>
              <a:rPr lang="en-GB" sz="3500" dirty="0"/>
              <a:t> Index</a:t>
            </a:r>
            <a:endParaRPr lang="en-GB" dirty="0"/>
          </a:p>
          <a:p>
            <a:pPr algn="just"/>
            <a:r>
              <a:rPr lang="en-GB" dirty="0"/>
              <a:t>Hash index</a:t>
            </a:r>
          </a:p>
          <a:p>
            <a:pPr marL="0" indent="0" algn="just">
              <a:buNone/>
            </a:pPr>
            <a:r>
              <a:rPr lang="en-GB" sz="2000" dirty="0"/>
              <a:t>Index </a:t>
            </a:r>
            <a:r>
              <a:rPr lang="en-GB" sz="2000" dirty="0" err="1"/>
              <a:t>dengan</a:t>
            </a:r>
            <a:r>
              <a:rPr lang="en-GB" sz="2000" dirty="0"/>
              <a:t> system hash </a:t>
            </a:r>
            <a:r>
              <a:rPr lang="en-GB" sz="2000" dirty="0" err="1"/>
              <a:t>dari</a:t>
            </a:r>
            <a:r>
              <a:rPr lang="en-GB" sz="2000" dirty="0"/>
              <a:t> </a:t>
            </a:r>
            <a:r>
              <a:rPr lang="en-GB" sz="2000" dirty="0" err="1"/>
              <a:t>PostgreeSQL</a:t>
            </a:r>
            <a:r>
              <a:rPr lang="en-GB" sz="2000" dirty="0"/>
              <a:t>, </a:t>
            </a:r>
            <a:r>
              <a:rPr lang="en-GB" sz="2000" dirty="0" err="1"/>
              <a:t>cara</a:t>
            </a:r>
            <a:r>
              <a:rPr lang="en-GB" sz="2000" dirty="0"/>
              <a:t> </a:t>
            </a:r>
            <a:r>
              <a:rPr lang="en-GB" sz="2000" dirty="0" err="1"/>
              <a:t>kerjanya</a:t>
            </a:r>
            <a:r>
              <a:rPr lang="en-GB" sz="2000" dirty="0"/>
              <a:t> Adalah </a:t>
            </a:r>
            <a:r>
              <a:rPr lang="en-GB" sz="2000" dirty="0" err="1"/>
              <a:t>dengan</a:t>
            </a:r>
            <a:r>
              <a:rPr lang="en-GB" sz="2000" dirty="0"/>
              <a:t> </a:t>
            </a:r>
            <a:r>
              <a:rPr lang="en-GB" sz="2000" dirty="0" err="1"/>
              <a:t>membuat</a:t>
            </a:r>
            <a:r>
              <a:rPr lang="en-GB" sz="2000" dirty="0"/>
              <a:t> hash key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setiap</a:t>
            </a:r>
            <a:r>
              <a:rPr lang="en-GB" sz="2000" dirty="0"/>
              <a:t> index yang </a:t>
            </a:r>
            <a:r>
              <a:rPr lang="en-GB" sz="2000" dirty="0" err="1"/>
              <a:t>ada</a:t>
            </a:r>
            <a:r>
              <a:rPr lang="en-GB" sz="2000" dirty="0"/>
              <a:t> </a:t>
            </a:r>
            <a:r>
              <a:rPr lang="en-GB" sz="2000" dirty="0" err="1"/>
              <a:t>sehingga</a:t>
            </a:r>
            <a:r>
              <a:rPr lang="en-GB" sz="2000" dirty="0"/>
              <a:t> </a:t>
            </a:r>
            <a:r>
              <a:rPr lang="en-GB" sz="2000" dirty="0" err="1"/>
              <a:t>cara</a:t>
            </a:r>
            <a:r>
              <a:rPr lang="en-GB" sz="2000" dirty="0"/>
              <a:t> </a:t>
            </a:r>
            <a:r>
              <a:rPr lang="en-GB" sz="2000" dirty="0" err="1"/>
              <a:t>ini</a:t>
            </a:r>
            <a:r>
              <a:rPr lang="en-GB" sz="2000" dirty="0"/>
              <a:t> </a:t>
            </a:r>
            <a:r>
              <a:rPr lang="en-GB" sz="2000" dirty="0" err="1"/>
              <a:t>bagus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pencarian</a:t>
            </a:r>
            <a:r>
              <a:rPr lang="en-GB" sz="2000" dirty="0"/>
              <a:t> data exact </a:t>
            </a:r>
            <a:r>
              <a:rPr lang="en-GB" sz="2000" dirty="0" err="1"/>
              <a:t>atau</a:t>
            </a:r>
            <a:r>
              <a:rPr lang="en-GB" sz="2000" dirty="0"/>
              <a:t> data </a:t>
            </a:r>
            <a:r>
              <a:rPr lang="en-GB" sz="2000" dirty="0" err="1"/>
              <a:t>unik</a:t>
            </a:r>
            <a:r>
              <a:rPr lang="en-GB" sz="2000" dirty="0"/>
              <a:t> pada large database model</a:t>
            </a:r>
          </a:p>
          <a:p>
            <a:pPr marL="0" indent="0" algn="just">
              <a:buNone/>
            </a:pPr>
            <a:endParaRPr lang="en-GB" sz="2000" dirty="0"/>
          </a:p>
          <a:p>
            <a:pPr marL="0" indent="0" algn="just">
              <a:buNone/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D76FF-AA31-165B-665C-2F4931A53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92" y="2487205"/>
            <a:ext cx="5486400" cy="1586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9C04AF-D041-FCEE-4D83-B7102952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92" y="4290495"/>
            <a:ext cx="3701801" cy="1828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F9A898-0DEA-A39A-9D1E-283769442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124" y="4290495"/>
            <a:ext cx="368505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8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91445-1FD3-E272-2B97-6A0605CB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167464B-56B3-0E55-B8EB-1970E23A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E7DFAD1-C7C7-4603-ADA1-D017DF17801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F34D49-9F32-D7ED-50B6-CCAC85A9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323" y="209218"/>
            <a:ext cx="10269354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500" dirty="0" err="1"/>
              <a:t>PostgreeSQL</a:t>
            </a:r>
            <a:r>
              <a:rPr lang="en-GB" sz="3500" dirty="0"/>
              <a:t> Index</a:t>
            </a:r>
            <a:endParaRPr lang="en-GB" dirty="0"/>
          </a:p>
          <a:p>
            <a:pPr algn="just"/>
            <a:r>
              <a:rPr lang="en-GB" dirty="0"/>
              <a:t>Block range index (BRIN)</a:t>
            </a:r>
          </a:p>
          <a:p>
            <a:pPr marL="0" indent="0" algn="just">
              <a:buNone/>
            </a:pPr>
            <a:r>
              <a:rPr lang="en-GB" sz="2000" dirty="0"/>
              <a:t>Index yang </a:t>
            </a:r>
            <a:r>
              <a:rPr lang="en-GB" sz="2000" dirty="0" err="1"/>
              <a:t>berurut</a:t>
            </a:r>
            <a:r>
              <a:rPr lang="en-GB" sz="2000" dirty="0"/>
              <a:t> </a:t>
            </a:r>
            <a:r>
              <a:rPr lang="en-GB" sz="2000" dirty="0" err="1"/>
              <a:t>membentuk</a:t>
            </a:r>
            <a:r>
              <a:rPr lang="en-GB" sz="2000" dirty="0"/>
              <a:t> array, </a:t>
            </a:r>
            <a:r>
              <a:rPr lang="en-GB" sz="2000" dirty="0" err="1"/>
              <a:t>bagus</a:t>
            </a:r>
            <a:r>
              <a:rPr lang="en-GB" sz="2000" dirty="0"/>
              <a:t> </a:t>
            </a:r>
            <a:r>
              <a:rPr lang="en-GB" sz="2000" dirty="0" err="1"/>
              <a:t>untuk</a:t>
            </a:r>
            <a:r>
              <a:rPr lang="en-GB" sz="2000" dirty="0"/>
              <a:t> </a:t>
            </a:r>
            <a:r>
              <a:rPr lang="en-GB" sz="2000" dirty="0" err="1"/>
              <a:t>tipe</a:t>
            </a:r>
            <a:r>
              <a:rPr lang="en-GB" sz="2000" dirty="0"/>
              <a:t> data yang </a:t>
            </a:r>
            <a:r>
              <a:rPr lang="en-GB" sz="2000" dirty="0" err="1"/>
              <a:t>berurutan</a:t>
            </a:r>
            <a:r>
              <a:rPr lang="en-GB" sz="2000" dirty="0"/>
              <a:t> </a:t>
            </a:r>
            <a:r>
              <a:rPr lang="en-GB" sz="2000" dirty="0" err="1"/>
              <a:t>dengan</a:t>
            </a:r>
            <a:r>
              <a:rPr lang="en-GB" sz="2000" dirty="0"/>
              <a:t> system </a:t>
            </a:r>
            <a:r>
              <a:rPr lang="en-GB" sz="2000" dirty="0" err="1"/>
              <a:t>sekuensial</a:t>
            </a:r>
            <a:endParaRPr lang="en-GB" sz="2000" dirty="0"/>
          </a:p>
          <a:p>
            <a:pPr marL="0" indent="0" algn="just">
              <a:buNone/>
            </a:pPr>
            <a:endParaRPr lang="en-GB" sz="2000" dirty="0"/>
          </a:p>
          <a:p>
            <a:pPr marL="0" indent="0" algn="just">
              <a:buNone/>
            </a:pPr>
            <a:endParaRPr lang="en-GB" sz="2000" dirty="0"/>
          </a:p>
          <a:p>
            <a:pPr marL="0" indent="0" algn="just">
              <a:buNone/>
            </a:pP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1F4298-0C07-F3EC-85B8-90B2F2868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92" y="2384887"/>
            <a:ext cx="5486400" cy="16099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AA41FB-A44C-8D48-A5E5-7E1E4EFA3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92" y="4213687"/>
            <a:ext cx="3874389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375480-B355-6931-ACA8-E3ACB1403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712" y="4213687"/>
            <a:ext cx="372878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0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925F-A5B0-4939-A14B-B1C7AB6B8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Tugas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78D01-05E2-4171-9EB2-612FE0DE0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0615"/>
            <a:ext cx="10269354" cy="4351338"/>
          </a:xfrm>
        </p:spPr>
        <p:txBody>
          <a:bodyPr/>
          <a:lstStyle/>
          <a:p>
            <a:pPr algn="just"/>
            <a:r>
              <a:rPr lang="en-GB" dirty="0" err="1"/>
              <a:t>Pilih</a:t>
            </a:r>
            <a:r>
              <a:rPr lang="en-GB" dirty="0"/>
              <a:t> 3 </a:t>
            </a:r>
            <a:r>
              <a:rPr lang="en-GB" dirty="0" err="1"/>
              <a:t>jenis</a:t>
            </a:r>
            <a:r>
              <a:rPr lang="en-GB" dirty="0"/>
              <a:t> index pada PostgreSQL</a:t>
            </a:r>
          </a:p>
          <a:p>
            <a:pPr algn="just"/>
            <a:r>
              <a:rPr lang="en-GB" dirty="0" err="1"/>
              <a:t>Buatkan</a:t>
            </a:r>
            <a:r>
              <a:rPr lang="en-GB" dirty="0"/>
              <a:t> </a:t>
            </a:r>
            <a:r>
              <a:rPr lang="en-GB" dirty="0" err="1"/>
              <a:t>penjelasan</a:t>
            </a:r>
            <a:r>
              <a:rPr lang="en-GB" dirty="0"/>
              <a:t> untuk masing-masing index yang </a:t>
            </a:r>
            <a:r>
              <a:rPr lang="en-GB" dirty="0" err="1"/>
              <a:t>berisi</a:t>
            </a:r>
            <a:r>
              <a:rPr lang="en-GB" dirty="0"/>
              <a:t> (1) </a:t>
            </a:r>
            <a:r>
              <a:rPr lang="en-GB" dirty="0" err="1"/>
              <a:t>pengertian</a:t>
            </a:r>
            <a:r>
              <a:rPr lang="en-GB" dirty="0"/>
              <a:t> masing-masing index (2) dua </a:t>
            </a:r>
            <a:r>
              <a:rPr lang="en-GB" dirty="0" err="1"/>
              <a:t>contoh</a:t>
            </a:r>
            <a:r>
              <a:rPr lang="en-GB" dirty="0"/>
              <a:t> </a:t>
            </a:r>
            <a:r>
              <a:rPr lang="en-GB" dirty="0" err="1"/>
              <a:t>implementasi</a:t>
            </a:r>
            <a:r>
              <a:rPr lang="en-GB" dirty="0"/>
              <a:t> untuk masing-masing index. Tabel yang </a:t>
            </a:r>
            <a:r>
              <a:rPr lang="en-GB" dirty="0" err="1"/>
              <a:t>digunakan</a:t>
            </a:r>
            <a:r>
              <a:rPr lang="en-GB" dirty="0"/>
              <a:t> </a:t>
            </a:r>
            <a:r>
              <a:rPr lang="en-GB" dirty="0" err="1"/>
              <a:t>adalah</a:t>
            </a:r>
            <a:r>
              <a:rPr lang="en-GB" dirty="0"/>
              <a:t> Tabel pada Latihan TM04 </a:t>
            </a:r>
            <a:r>
              <a:rPr lang="en-GB" dirty="0" err="1"/>
              <a:t>dimana</a:t>
            </a:r>
            <a:r>
              <a:rPr lang="en-GB" dirty="0"/>
              <a:t> </a:t>
            </a:r>
            <a:r>
              <a:rPr lang="en-GB" dirty="0" err="1"/>
              <a:t>datanya</a:t>
            </a:r>
            <a:r>
              <a:rPr lang="en-GB" dirty="0"/>
              <a:t> </a:t>
            </a:r>
            <a:r>
              <a:rPr lang="en-GB" dirty="0" err="1"/>
              <a:t>bisa</a:t>
            </a:r>
            <a:r>
              <a:rPr lang="en-GB" dirty="0"/>
              <a:t> </a:t>
            </a:r>
            <a:r>
              <a:rPr lang="en-GB" dirty="0" err="1"/>
              <a:t>ditambahkan</a:t>
            </a:r>
            <a:r>
              <a:rPr lang="en-GB" dirty="0"/>
              <a:t>.</a:t>
            </a:r>
          </a:p>
          <a:p>
            <a:pPr algn="just"/>
            <a:r>
              <a:rPr lang="en-GB" dirty="0" err="1"/>
              <a:t>Pengumpulan</a:t>
            </a:r>
            <a:r>
              <a:rPr lang="en-GB" dirty="0"/>
              <a:t> </a:t>
            </a:r>
            <a:r>
              <a:rPr lang="en-GB" dirty="0" err="1"/>
              <a:t>dengan</a:t>
            </a:r>
            <a:r>
              <a:rPr lang="en-GB" dirty="0"/>
              <a:t> format </a:t>
            </a:r>
            <a:r>
              <a:rPr lang="en-GB" dirty="0" err="1"/>
              <a:t>powerpoint</a:t>
            </a:r>
            <a:r>
              <a:rPr lang="en-GB" dirty="0"/>
              <a:t> pada </a:t>
            </a:r>
            <a:r>
              <a:rPr lang="en-GB" dirty="0" err="1"/>
              <a:t>myitsclassroom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9520906"/>
      </p:ext>
    </p:extLst>
  </p:cSld>
  <p:clrMapOvr>
    <a:masterClrMapping/>
  </p:clrMapOvr>
</p:sld>
</file>

<file path=ppt/theme/theme1.xml><?xml version="1.0" encoding="utf-8"?>
<a:theme xmlns:a="http://schemas.openxmlformats.org/drawingml/2006/main" name="Ratih-I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C2AE3C4-9CF9-4264-8ED4-B37987376DDF}" vid="{FF154223-AE6D-4109-B592-7BF49BFF10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Ratih-ITS</Template>
  <TotalTime>3083</TotalTime>
  <Words>226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Ratih-ITS</vt:lpstr>
      <vt:lpstr>TM-09 MAULANA IKHSAN – 5025241163 Database Management</vt:lpstr>
      <vt:lpstr>PowerPoint Presentation</vt:lpstr>
      <vt:lpstr>PowerPoint Presentation</vt:lpstr>
      <vt:lpstr>PowerPoint Presentation</vt:lpstr>
      <vt:lpstr>PowerPoint Presentation</vt:lpstr>
      <vt:lpstr>Tugas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INDEXING</dc:title>
  <dc:creator>Ratih Anggraini</dc:creator>
  <cp:lastModifiedBy>Maulana Ikhsan</cp:lastModifiedBy>
  <cp:revision>31</cp:revision>
  <dcterms:created xsi:type="dcterms:W3CDTF">2021-05-23T01:55:35Z</dcterms:created>
  <dcterms:modified xsi:type="dcterms:W3CDTF">2026-04-26T08:33:00Z</dcterms:modified>
</cp:coreProperties>
</file>